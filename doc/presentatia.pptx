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11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7559675" cy="10691813"/>
  <p:embeddedFontLst>
    <p:embeddedFont>
      <p:font typeface="Myriad Pro Black"/>
    </p:embeddedFont>
    <p:embeddedFont>
      <p:font typeface="Noto Sans CJK SC"/>
      <p:regular r:id="rId16"/>
      <p:bold r:id="rId17"/>
    </p:embeddedFont>
    <p:embeddedFont>
      <p:font typeface="Noto Sans Devanagari"/>
      <p:regular r:id="rId18"/>
      <p:bold r:id="rId1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_1_Noto_Sans_CJK_SC_Regular.fntdata"/><Relationship Id="rId17" Type="http://schemas.openxmlformats.org/officeDocument/2006/relationships/font" Target="fonts/Font_2_Noto_Sans_CJK_SC_Bold.fntdata"/><Relationship Id="rId18" Type="http://schemas.openxmlformats.org/officeDocument/2006/relationships/font" Target="fonts/Font_3_Noto_Sans_Devanagari_Regular.fntdata"/><Relationship Id="rId19" Type="http://schemas.openxmlformats.org/officeDocument/2006/relationships/font" Target="fonts/Font_4_Noto_Sans_Devanagari_Bold.fntdata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7240" y="1272960"/>
            <a:ext cx="3988800" cy="228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5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ru-RU" sz="5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ru-RU" sz="5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7D4D26-9255-49CD-A448-5BB904E4BE05}" type="slidenum"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45760" y="900360"/>
            <a:ext cx="6252120" cy="11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445760" y="900360"/>
            <a:ext cx="6252120" cy="11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56377D-C4DC-4C5D-A5A1-15EF48D90B7D}" type="slidenum"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45760" y="900360"/>
            <a:ext cx="6252120" cy="11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86480" y="1531800"/>
            <a:ext cx="3150360" cy="44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314680" y="1300320"/>
            <a:ext cx="3255840" cy="22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48C4C9-B3B8-460C-9E29-A1BFC2D904D3}" type="slidenum"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445760" y="900360"/>
            <a:ext cx="6252120" cy="115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3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5B76D-FC5A-4B3A-BBC0-3AE34F425B89}" type="slidenum"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5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89274-1B2E-4219-B97D-1ED983302397}" type="slidenum"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Рисунок 4"/>
          <p:cNvPicPr/>
          <p:nvPr/>
        </p:nvPicPr>
        <p:blipFill>
          <a:blip r:embed="rId2"/>
          <a:stretch/>
        </p:blipFill>
        <p:spPr>
          <a:xfrm>
            <a:off x="685800" y="658080"/>
            <a:ext cx="3352320" cy="10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1"/>
          <p:cNvSpPr/>
          <p:nvPr/>
        </p:nvSpPr>
        <p:spPr>
          <a:xfrm>
            <a:off x="721080" y="1809720"/>
            <a:ext cx="5486040" cy="17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Локальная система синхронизации файлов на основе распределённой системы контроля версий с локализацией конфликтов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5"/>
          <p:cNvSpPr/>
          <p:nvPr/>
        </p:nvSpPr>
        <p:spPr>
          <a:xfrm>
            <a:off x="721080" y="4183560"/>
            <a:ext cx="4231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ДОКЛАДЧИК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:</a:t>
            </a: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Т. Р. Баймурадов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Группа 22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31" name="Группа 11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32" name="Прямоугольник 12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" name="Полилиния 13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34" name="Рисунок 15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5" name="object 3"/>
          <p:cNvSpPr/>
          <p:nvPr/>
        </p:nvSpPr>
        <p:spPr>
          <a:xfrm>
            <a:off x="720000" y="1108440"/>
            <a:ext cx="7693200" cy="30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  <a:ea typeface="Noto Sans CJK SC"/>
              </a:rPr>
              <a:t>Локальная система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синхронизации файлов и контроля версий для студентов, одиночных разработчиков, людей творческих профессий и обычных пользователей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Простой интуитивный интерфейс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Она даёт историю изменений, ветки и безопасное слияние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Устройства синхронизируются напрямую по локальной сети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Не нужен обязательный сервер и облачный аккаунт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Конфликты не останавливают слияние, а локализуются на уровне отдельного файла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9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Описание проекта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па 17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38" name="Группа 18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39" name="Прямоугольник 9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0" name="Полилиния 8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41" name="Рисунок 10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2" name="object 9"/>
          <p:cNvSpPr/>
          <p:nvPr/>
        </p:nvSpPr>
        <p:spPr>
          <a:xfrm>
            <a:off x="720000" y="1108440"/>
            <a:ext cx="7693200" cy="35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Файлы на нескольких устройствах часто переносятся вручную, копии расходятся, а использование систем синхронизации требует дополнительной настройки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 большинстве программ для синхронизации отсутствует история версий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Git даёт историю, но требует требует понимания концептов staging, stash, отличий rebase и merge и тд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Git требует использования CLI инструмента, а обертки с графическим интерфейсом нацелены на профессиональное использование в больших проектах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Облако удобно, но зависит от чужого сервера и интернета; в основном платно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0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Проблема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Группа 21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45" name="Группа 23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46" name="Прямоугольник 11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7" name="Полилиния 11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48" name="Рисунок 12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9" name="object 11"/>
          <p:cNvSpPr/>
          <p:nvPr/>
        </p:nvSpPr>
        <p:spPr>
          <a:xfrm>
            <a:off x="726480" y="907920"/>
            <a:ext cx="791352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Исследование MIT: Perez De Rosso и Jackson, конференция Onward! 2013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Авторы разобрали около 2400 вопросов о Git на Stack Overflow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Сложность в концептах Git: мешают не команды, а многие неочевидные понятия, например, staging, stash, «assumed unchanged» и т.д.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 Gitless они убраны, а ветка включает и рабочие, и зафиксированные версии файлов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2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Gitless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/>
          <p:cNvPicPr/>
          <p:nvPr/>
        </p:nvPicPr>
        <p:blipFill>
          <a:blip r:embed="rId2"/>
          <a:stretch/>
        </p:blipFill>
        <p:spPr>
          <a:xfrm>
            <a:off x="2160000" y="3420000"/>
            <a:ext cx="4840200" cy="137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Группа 1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53" name="Группа 2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54" name="Прямоугольник 1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5" name="Полилиния 1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56" name="Рисунок 1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7" name="object 1"/>
          <p:cNvSpPr/>
          <p:nvPr/>
        </p:nvSpPr>
        <p:spPr>
          <a:xfrm>
            <a:off x="726480" y="1123920"/>
            <a:ext cx="7693200" cy="22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-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ы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ч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ц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ж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х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ю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ю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: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;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r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e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b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a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s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e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х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ц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ю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ь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C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L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I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г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ч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;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ь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ы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Концепция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Группа 3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60" name="Группа 4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61" name="Прямоугольник 2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2" name="Полилиния 2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63" name="Рисунок 2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" name="object 2"/>
          <p:cNvSpPr/>
          <p:nvPr/>
        </p:nvSpPr>
        <p:spPr>
          <a:xfrm>
            <a:off x="720000" y="774360"/>
            <a:ext cx="7920000" cy="264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ч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ж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х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ц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ю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у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э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ы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г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ц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ы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ы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л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ц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щ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а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й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е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т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и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Механизмы VCS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2"/>
          <a:stretch/>
        </p:blipFill>
        <p:spPr>
          <a:xfrm>
            <a:off x="3060000" y="3600000"/>
            <a:ext cx="3123360" cy="128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Группа 5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68" name="Группа 6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69" name="Прямоугольник 3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0" name="Полилиния 3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71" name="Рисунок 5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" name="object 4"/>
          <p:cNvSpPr/>
          <p:nvPr/>
        </p:nvSpPr>
        <p:spPr>
          <a:xfrm>
            <a:off x="726480" y="907920"/>
            <a:ext cx="3953520" cy="37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Обычная VCS прерывает merge и требует решения здесь и сейчас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Здесь для конфликтующего файла создаются ветки уровня файла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Файл переходит в состояние суперпозиции, остальные сливаются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Решение можно отложить: выбрать вариант, объединить фрагменты или оставить оба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Данные не теряются, процесс не блокируется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Слияние при конфликтах состояний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2"/>
          <a:stretch/>
        </p:blipFill>
        <p:spPr>
          <a:xfrm>
            <a:off x="4860000" y="900000"/>
            <a:ext cx="3965760" cy="372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Группа 13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76" name="Группа 14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77" name="Прямоугольник 6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8" name="Полилиния 6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79" name="Рисунок 8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0" name="object 7"/>
          <p:cNvSpPr/>
          <p:nvPr/>
        </p:nvSpPr>
        <p:spPr>
          <a:xfrm>
            <a:off x="726480" y="907920"/>
            <a:ext cx="4133520" cy="28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Прямое соединение устройств по локальной сети, без сервера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Передаются только различающиеся данные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Список доверенных устройств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Полная работа офлайн; синхронизация по необходимости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Работа на Linux, Windows и Android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Синхронизация файлов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5355000" y="1260000"/>
            <a:ext cx="328500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Группа 8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84" name="Группа 9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85" name="Прямоугольник 4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6" name="Полилиния 4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87" name="Рисунок 6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8" name="object 5"/>
          <p:cNvSpPr/>
          <p:nvPr/>
        </p:nvSpPr>
        <p:spPr>
          <a:xfrm>
            <a:off x="726480" y="1123920"/>
            <a:ext cx="4853520" cy="33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Git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Распределённая VCS: полная история на каждом устройстве, ветки, слияние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Стандарт де-факто, огромная экосистема и инструменты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Сложная концептуальная модель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Конфликт останавливает слияние и требует решения здесь и сейчас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Ориентирован на разработчиков: CLI, нет мобильного клиента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Аналоги VCS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2"/>
          <a:stretch/>
        </p:blipFill>
        <p:spPr>
          <a:xfrm>
            <a:off x="6136560" y="2340000"/>
            <a:ext cx="2323440" cy="98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Группа 19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92" name="Группа 20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93" name="Прямоугольник 10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94" name="Полилиния 10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95" name="Рисунок 11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" name="object 10"/>
          <p:cNvSpPr/>
          <p:nvPr/>
        </p:nvSpPr>
        <p:spPr>
          <a:xfrm>
            <a:off x="726480" y="1123920"/>
            <a:ext cx="4853520" cy="33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Clustta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Версионирование активов, крупные бинарные файлы, творческие команды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Минусы: сервер студии, нет веток уровня репозитория, нет мобильного клиента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Subversion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Полноценная централизованная VCS: ветки, теги, отслеживание слияний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Минусы: обязательный сервер, слияние останавливается при конфликте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Аналоги VCS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6699960" y="939960"/>
            <a:ext cx="1400040" cy="14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3"/>
          <a:stretch/>
        </p:blipFill>
        <p:spPr>
          <a:xfrm>
            <a:off x="5754600" y="3543480"/>
            <a:ext cx="2885400" cy="59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Группа 10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101" name="Группа 12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102" name="Прямоугольник 5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03" name="Полилиния 5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104" name="Рисунок 7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5" name="object 6"/>
          <p:cNvSpPr/>
          <p:nvPr/>
        </p:nvSpPr>
        <p:spPr>
          <a:xfrm>
            <a:off x="726480" y="943920"/>
            <a:ext cx="4853520" cy="39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Syncthing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Децентрализованная синхронизация без сервера, версионирование файлов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Минус: не VCS - нет коммитов, веток и слияния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FreeFileSync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Синхронизация, резервное копирование, обнаружение конфликтов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Минус: не VCS, история - только архив копий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LocalSend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Простая передача файлов по локальной сети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Аналоги для синхронизации файлов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120000" y="1260000"/>
            <a:ext cx="234000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4"/>
          <a:stretch/>
        </p:blipFill>
        <p:spPr>
          <a:xfrm>
            <a:off x="6480000" y="2160000"/>
            <a:ext cx="1781640" cy="178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/>
          <p:cNvPicPr/>
          <p:nvPr/>
        </p:nvPicPr>
        <p:blipFill>
          <a:blip r:embed="rId5"/>
          <a:stretch/>
        </p:blipFill>
        <p:spPr>
          <a:xfrm>
            <a:off x="5900040" y="3397320"/>
            <a:ext cx="2919960" cy="164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Группа 15"/>
          <p:cNvGrpSpPr/>
          <p:nvPr/>
        </p:nvGrpSpPr>
        <p:grpSpPr>
          <a:xfrm>
            <a:off x="0" y="-5400"/>
            <a:ext cx="9143640" cy="574200"/>
            <a:chOff x="0" y="-5400"/>
            <a:chExt cx="9143640" cy="574200"/>
          </a:xfrm>
        </p:grpSpPr>
        <p:grpSp>
          <p:nvGrpSpPr>
            <p:cNvPr id="111" name="Группа 16"/>
            <p:cNvGrpSpPr/>
            <p:nvPr/>
          </p:nvGrpSpPr>
          <p:grpSpPr>
            <a:xfrm>
              <a:off x="0" y="-5400"/>
              <a:ext cx="9143640" cy="574200"/>
              <a:chOff x="0" y="-5400"/>
              <a:chExt cx="9143640" cy="574200"/>
            </a:xfrm>
          </p:grpSpPr>
          <p:sp>
            <p:nvSpPr>
              <p:cNvPr id="112" name="Прямоугольник 7"/>
              <p:cNvSpPr/>
              <p:nvPr/>
            </p:nvSpPr>
            <p:spPr>
              <a:xfrm>
                <a:off x="2160" y="-5400"/>
                <a:ext cx="9141480" cy="5742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13" name="Полилиния 7"/>
              <p:cNvSpPr/>
              <p:nvPr/>
            </p:nvSpPr>
            <p:spPr>
              <a:xfrm>
                <a:off x="0" y="-5400"/>
                <a:ext cx="6476760" cy="574200"/>
              </a:xfrm>
              <a:custGeom>
                <a:avLst/>
                <a:gdLst>
                  <a:gd name="textAreaLeft" fmla="*/ 0 w 6476760"/>
                  <a:gd name="textAreaRight" fmla="*/ 6477120 w 6476760"/>
                  <a:gd name="textAreaTop" fmla="*/ 0 h 574200"/>
                  <a:gd name="textAreaBottom" fmla="*/ 574560 h 574200"/>
                  <a:gd name="GluePoint1X" fmla="*/ 0 w 9967865"/>
                  <a:gd name="GluePoint1Y" fmla="*/ 0 h 690048"/>
                  <a:gd name="GluePoint2X" fmla="*/ 9967865 w 9967865"/>
                  <a:gd name="GluePoint2Y" fmla="*/ 0 h 690048"/>
                  <a:gd name="GluePoint3X" fmla="*/ 8760984 w 9967865"/>
                  <a:gd name="GluePoint3Y" fmla="*/ 690048 h 690048"/>
                  <a:gd name="GluePoint4X" fmla="*/ 4224 w 9967865"/>
                  <a:gd name="GluePoint4Y" fmla="*/ 688791 h 690048"/>
                  <a:gd name="GluePoint5X" fmla="*/ 0 w 9967865"/>
                  <a:gd name="GluePoint5Y" fmla="*/ 0 h 6900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9967865" h="690048">
                    <a:moveTo>
                      <a:pt x="0" y="0"/>
                    </a:moveTo>
                    <a:lnTo>
                      <a:pt x="9967865" y="0"/>
                    </a:lnTo>
                    <a:lnTo>
                      <a:pt x="8760984" y="690048"/>
                    </a:lnTo>
                    <a:lnTo>
                      <a:pt x="4224" y="688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pic>
          <p:nvPicPr>
            <p:cNvPr id="114" name="Рисунок 9"/>
            <p:cNvPicPr/>
            <p:nvPr/>
          </p:nvPicPr>
          <p:blipFill>
            <a:blip r:embed="rId1"/>
            <a:stretch/>
          </p:blipFill>
          <p:spPr>
            <a:xfrm>
              <a:off x="7543800" y="91440"/>
              <a:ext cx="12110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5" name="object 8"/>
          <p:cNvSpPr/>
          <p:nvPr/>
        </p:nvSpPr>
        <p:spPr>
          <a:xfrm>
            <a:off x="726480" y="1123920"/>
            <a:ext cx="7693200" cy="22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Свойства: распределённость, нелинейная история, локализация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конфликтов, простота для нетехнического пользователя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Ни один аналог не соединяет все четыре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  <a:ea typeface="Noto Sans CJK SC"/>
              </a:rPr>
              <a:t>Gitless - концептуальная опора: отказ от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большинства сложных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концептов, таких как staging, stash, и скрытых состояний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8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Собственный вклад: синхронизация, локализация конфликтов,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yriad Pro Black"/>
              </a:rPr>
              <a:t>графический интерфейс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671040" y="97920"/>
            <a:ext cx="822924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Итог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Группа 7"/>
          <p:cNvGrpSpPr/>
          <p:nvPr/>
        </p:nvGrpSpPr>
        <p:grpSpPr>
          <a:xfrm>
            <a:off x="0" y="-5400"/>
            <a:ext cx="9143640" cy="5148720"/>
            <a:chOff x="0" y="-5400"/>
            <a:chExt cx="9143640" cy="5148720"/>
          </a:xfrm>
        </p:grpSpPr>
        <p:sp>
          <p:nvSpPr>
            <p:cNvPr id="118" name="Прямоугольник 8"/>
            <p:cNvSpPr/>
            <p:nvPr/>
          </p:nvSpPr>
          <p:spPr>
            <a:xfrm>
              <a:off x="2160" y="-5400"/>
              <a:ext cx="9141480" cy="51487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" name="Полилиния 9"/>
            <p:cNvSpPr/>
            <p:nvPr/>
          </p:nvSpPr>
          <p:spPr>
            <a:xfrm>
              <a:off x="0" y="-5400"/>
              <a:ext cx="6476760" cy="5148720"/>
            </a:xfrm>
            <a:custGeom>
              <a:avLst/>
              <a:gdLst>
                <a:gd name="textAreaLeft" fmla="*/ 0 w 6476760"/>
                <a:gd name="textAreaRight" fmla="*/ 6477120 w 6476760"/>
                <a:gd name="textAreaTop" fmla="*/ 0 h 5148720"/>
                <a:gd name="textAreaBottom" fmla="*/ 5149080 h 5148720"/>
                <a:gd name="GluePoint1X" fmla="*/ 0 w 9967865"/>
                <a:gd name="GluePoint1Y" fmla="*/ 0 h 690048"/>
                <a:gd name="GluePoint2X" fmla="*/ 9967865 w 9967865"/>
                <a:gd name="GluePoint2Y" fmla="*/ 0 h 690048"/>
                <a:gd name="GluePoint3X" fmla="*/ 8760984 w 9967865"/>
                <a:gd name="GluePoint3Y" fmla="*/ 690048 h 690048"/>
                <a:gd name="GluePoint4X" fmla="*/ 4224 w 9967865"/>
                <a:gd name="GluePoint4Y" fmla="*/ 688791 h 690048"/>
                <a:gd name="GluePoint5X" fmla="*/ 0 w 9967865"/>
                <a:gd name="GluePoint5Y" fmla="*/ 0 h 6900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9967865" h="690048">
                  <a:moveTo>
                    <a:pt x="0" y="0"/>
                  </a:moveTo>
                  <a:lnTo>
                    <a:pt x="9967865" y="0"/>
                  </a:lnTo>
                  <a:lnTo>
                    <a:pt x="8760984" y="690048"/>
                  </a:lnTo>
                  <a:lnTo>
                    <a:pt x="4224" y="688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0" name="object 3"/>
          <p:cNvSpPr/>
          <p:nvPr/>
        </p:nvSpPr>
        <p:spPr>
          <a:xfrm>
            <a:off x="838080" y="1524600"/>
            <a:ext cx="754344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9040" bIns="0" anchor="ctr">
            <a:spAutoFit/>
          </a:bodyPr>
          <a:p>
            <a:pPr defTabSz="914400">
              <a:lnSpc>
                <a:spcPct val="70000"/>
              </a:lnSpc>
            </a:pPr>
            <a:r>
              <a:rPr lang="ru-RU" sz="60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СПАСИБО</a:t>
            </a:r>
            <a:br>
              <a:rPr sz="6000"/>
            </a:br>
            <a:r>
              <a:rPr lang="ru-RU" sz="6000" b="0" u="none" strike="noStrike">
                <a:solidFill>
                  <a:schemeClr val="lt1"/>
                </a:solidFill>
                <a:effectLst/>
                <a:uFillTx/>
                <a:latin typeface="Myriad Pro Black"/>
              </a:rPr>
              <a:t>ЗА ВНИМАНИЕ!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Application>LibreOffice/25.8.7.3$Linux_X86_64 LibreOffice_project/3e474274c9a5f2b903dddd3b8e666f9833745664</Application>
  <AppVersion>15.0000</AppVersion>
  <Words>6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2021-03-12T05:54:09Z</dcterms:created>
  <dc:creator>Антон Федорович Урожай</dc:creator>
  <dc:description/>
  <dc:language>ru-RU</dc:language>
  <cp:lastModifiedBy/>
  <dcterms:modified xsi:type="dcterms:W3CDTF">2026-10-29T12:52:55Z</dcterms:modified>
  <cp:revision>161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PresentationFormat">
    <vt:lpwstr>Экран (16:9)</vt:lpwstr>
  </property>
  <property fmtid="{D5CDD505-2E9C-101B-9397-08002B2CF9AE}" pid="4" name="Slides">
    <vt:i4>3</vt:i4>
  </property>
</Properties>
</file>